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34440"/>
            <a:ext cx="10607040" cy="2103120"/>
          </a:xfrm>
          <a:prstGeom prst="rect">
            <a:avLst/>
          </a:prstGeom>
          <a:noFill/>
        </p:spPr>
        <p:txBody>
          <a:bodyPr wrap="none">
            <a:spAutoFit/>
          </a:bodyPr>
          <a:lstStyle/>
          <a:p>
            <a:pPr>
              <a:defRPr sz="3400" b="1">
                <a:solidFill>
                  <a:srgbClr val="F5F8FC"/>
                </a:solidFill>
              </a:defRPr>
            </a:pPr>
            <a:r>
              <a:t>Quantum Machine Learning-Based</a:t>
            </a:r>
            <a:br/>
            <a:r>
              <a:t>Patient Health Risk Prediction</a:t>
            </a:r>
          </a:p>
          <a:p>
            <a:pPr>
              <a:defRPr sz="2100">
                <a:solidFill>
                  <a:srgbClr val="50D2E6"/>
                </a:solidFill>
              </a:defRPr>
            </a:pPr>
            <a:r>
              <a:t>Using Quantum Support Vector Machine (QSVM)</a:t>
            </a:r>
          </a:p>
        </p:txBody>
      </p:sp>
      <p:sp>
        <p:nvSpPr>
          <p:cNvPr id="4" name="TextBox 3"/>
          <p:cNvSpPr txBox="1"/>
          <p:nvPr/>
        </p:nvSpPr>
        <p:spPr>
          <a:xfrm>
            <a:off x="841248" y="4160520"/>
            <a:ext cx="7315200" cy="1097280"/>
          </a:xfrm>
          <a:prstGeom prst="rect">
            <a:avLst/>
          </a:prstGeom>
          <a:noFill/>
        </p:spPr>
        <p:txBody>
          <a:bodyPr wrap="none">
            <a:spAutoFit/>
          </a:bodyPr>
          <a:lstStyle/>
          <a:p>
            <a:pPr>
              <a:defRPr sz="1800">
                <a:solidFill>
                  <a:srgbClr val="F5F8FC"/>
                </a:solidFill>
              </a:defRPr>
            </a:pPr>
            <a:r>
              <a:t>Name: Preetham</a:t>
            </a:r>
          </a:p>
          <a:p>
            <a:pPr>
              <a:defRPr sz="1800">
                <a:solidFill>
                  <a:srgbClr val="F5F8FC"/>
                </a:solidFill>
              </a:defRPr>
            </a:pPr>
            <a:r>
              <a:t>Roll No: 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2800" b="1">
                <a:solidFill>
                  <a:srgbClr val="F5F8FC"/>
                </a:solidFill>
              </a:defRPr>
            </a:pPr>
            <a:r>
              <a:t>Problem Statement</a:t>
            </a:r>
          </a:p>
        </p:txBody>
      </p:sp>
      <p:sp>
        <p:nvSpPr>
          <p:cNvPr id="4" name="TextBox 3"/>
          <p:cNvSpPr txBox="1"/>
          <p:nvPr/>
        </p:nvSpPr>
        <p:spPr>
          <a:xfrm>
            <a:off x="777240" y="1508760"/>
            <a:ext cx="10698480" cy="4480560"/>
          </a:xfrm>
          <a:prstGeom prst="rect">
            <a:avLst/>
          </a:prstGeom>
          <a:noFill/>
        </p:spPr>
        <p:txBody>
          <a:bodyPr wrap="square">
            <a:spAutoFit/>
          </a:bodyPr>
          <a:lstStyle/>
          <a:p>
            <a:pPr>
              <a:spcAft>
                <a:spcPts val="1200"/>
              </a:spcAft>
              <a:defRPr sz="1800">
                <a:solidFill>
                  <a:srgbClr val="F5F8FC"/>
                </a:solidFill>
              </a:defRPr>
            </a:pPr>
            <a:r>
              <a:t>Clinical datasets contain valuable information such as age, blood pressure, cholesterol and heart rate.</a:t>
            </a:r>
          </a:p>
          <a:p>
            <a:pPr>
              <a:spcAft>
                <a:spcPts val="1200"/>
              </a:spcAft>
              <a:defRPr sz="1800">
                <a:solidFill>
                  <a:srgbClr val="F5F8FC"/>
                </a:solidFill>
              </a:defRPr>
            </a:pPr>
            <a:r>
              <a:t>Manually analyzing large numbers of patient records is difficult and time-consuming.</a:t>
            </a:r>
          </a:p>
          <a:p>
            <a:pPr>
              <a:spcAft>
                <a:spcPts val="1200"/>
              </a:spcAft>
              <a:defRPr sz="1800">
                <a:solidFill>
                  <a:srgbClr val="F5F8FC"/>
                </a:solidFill>
              </a:defRPr>
            </a:pPr>
            <a:r>
              <a:t>The proposed system predicts whether a patient belongs to a lower-risk or higher-risk category.</a:t>
            </a:r>
          </a:p>
          <a:p>
            <a:pPr>
              <a:spcAft>
                <a:spcPts val="1200"/>
              </a:spcAft>
              <a:defRPr sz="1800">
                <a:solidFill>
                  <a:srgbClr val="F5F8FC"/>
                </a:solidFill>
              </a:defRPr>
            </a:pPr>
            <a:r>
              <a:t>Quantum Machine Learning is explored as a computational approach for clinical-data classification.</a:t>
            </a:r>
          </a:p>
          <a:p>
            <a:pPr>
              <a:spcAft>
                <a:spcPts val="1200"/>
              </a:spcAft>
              <a:defRPr sz="1800">
                <a:solidFill>
                  <a:srgbClr val="F5F8FC"/>
                </a:solidFill>
              </a:defRPr>
            </a:pPr>
            <a:r>
              <a:t>The model is intended for educational/research decision support, not as a replacement for medical diagnosis.</a:t>
            </a:r>
          </a:p>
        </p:txBody>
      </p:sp>
      <p:sp>
        <p:nvSpPr>
          <p:cNvPr id="5" name="TextBox 4"/>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2800" b="1">
                <a:solidFill>
                  <a:srgbClr val="F5F8FC"/>
                </a:solidFill>
              </a:defRPr>
            </a:pPr>
            <a:r>
              <a:t>Objectives</a:t>
            </a:r>
          </a:p>
        </p:txBody>
      </p:sp>
      <p:sp>
        <p:nvSpPr>
          <p:cNvPr id="4" name="TextBox 3"/>
          <p:cNvSpPr txBox="1"/>
          <p:nvPr/>
        </p:nvSpPr>
        <p:spPr>
          <a:xfrm>
            <a:off x="658368" y="1051560"/>
            <a:ext cx="10789920" cy="411480"/>
          </a:xfrm>
          <a:prstGeom prst="rect">
            <a:avLst/>
          </a:prstGeom>
          <a:noFill/>
        </p:spPr>
        <p:txBody>
          <a:bodyPr wrap="none">
            <a:spAutoFit/>
          </a:bodyPr>
          <a:lstStyle/>
          <a:p>
            <a:pPr>
              <a:defRPr sz="1300">
                <a:solidFill>
                  <a:srgbClr val="AFBED2"/>
                </a:solidFill>
              </a:defRPr>
            </a:pPr>
            <a:r>
              <a:t>How the proposed system solves the problem</a:t>
            </a:r>
          </a:p>
        </p:txBody>
      </p:sp>
      <p:sp>
        <p:nvSpPr>
          <p:cNvPr id="5" name="TextBox 4"/>
          <p:cNvSpPr txBox="1"/>
          <p:nvPr/>
        </p:nvSpPr>
        <p:spPr>
          <a:xfrm>
            <a:off x="777240" y="1508760"/>
            <a:ext cx="10698480" cy="4480560"/>
          </a:xfrm>
          <a:prstGeom prst="rect">
            <a:avLst/>
          </a:prstGeom>
          <a:noFill/>
        </p:spPr>
        <p:txBody>
          <a:bodyPr wrap="square">
            <a:spAutoFit/>
          </a:bodyPr>
          <a:lstStyle/>
          <a:p>
            <a:pPr>
              <a:spcAft>
                <a:spcPts val="1200"/>
              </a:spcAft>
              <a:defRPr sz="1800">
                <a:solidFill>
                  <a:srgbClr val="F5F8FC"/>
                </a:solidFill>
              </a:defRPr>
            </a:pPr>
            <a:r>
              <a:t>Collect and preprocess clinical patient data.</a:t>
            </a:r>
          </a:p>
          <a:p>
            <a:pPr>
              <a:spcAft>
                <a:spcPts val="1200"/>
              </a:spcAft>
              <a:defRPr sz="1800">
                <a:solidFill>
                  <a:srgbClr val="F5F8FC"/>
                </a:solidFill>
              </a:defRPr>
            </a:pPr>
            <a:r>
              <a:t>Select relevant health-related features and normalize their values.</a:t>
            </a:r>
          </a:p>
          <a:p>
            <a:pPr>
              <a:spcAft>
                <a:spcPts val="1200"/>
              </a:spcAft>
              <a:defRPr sz="1800">
                <a:solidFill>
                  <a:srgbClr val="F5F8FC"/>
                </a:solidFill>
              </a:defRPr>
            </a:pPr>
            <a:r>
              <a:t>Encode classical features into a quantum feature space.</a:t>
            </a:r>
          </a:p>
          <a:p>
            <a:pPr>
              <a:spcAft>
                <a:spcPts val="1200"/>
              </a:spcAft>
              <a:defRPr sz="1800">
                <a:solidFill>
                  <a:srgbClr val="F5F8FC"/>
                </a:solidFill>
              </a:defRPr>
            </a:pPr>
            <a:r>
              <a:t>Construct a quantum kernel and train a Quantum Support Vector Machine (QSVM).</a:t>
            </a:r>
          </a:p>
          <a:p>
            <a:pPr>
              <a:spcAft>
                <a:spcPts val="1200"/>
              </a:spcAft>
              <a:defRPr sz="1800">
                <a:solidFill>
                  <a:srgbClr val="F5F8FC"/>
                </a:solidFill>
              </a:defRPr>
            </a:pPr>
            <a:r>
              <a:t>Predict patient health-risk class and evaluate the model using accuracy, precision, recall and F1-score.</a:t>
            </a:r>
          </a:p>
        </p:txBody>
      </p:sp>
      <p:sp>
        <p:nvSpPr>
          <p:cNvPr id="6" name="TextBox 5"/>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2800" b="1">
                <a:solidFill>
                  <a:srgbClr val="F5F8FC"/>
                </a:solidFill>
              </a:defRPr>
            </a:pPr>
            <a:r>
              <a:t>Proposed Algorithm – QSVM</a:t>
            </a:r>
          </a:p>
        </p:txBody>
      </p:sp>
      <p:sp>
        <p:nvSpPr>
          <p:cNvPr id="4" name="TextBox 3"/>
          <p:cNvSpPr txBox="1"/>
          <p:nvPr/>
        </p:nvSpPr>
        <p:spPr>
          <a:xfrm>
            <a:off x="658368" y="1051560"/>
            <a:ext cx="10789920" cy="411480"/>
          </a:xfrm>
          <a:prstGeom prst="rect">
            <a:avLst/>
          </a:prstGeom>
          <a:noFill/>
        </p:spPr>
        <p:txBody>
          <a:bodyPr wrap="none">
            <a:spAutoFit/>
          </a:bodyPr>
          <a:lstStyle/>
          <a:p>
            <a:pPr>
              <a:defRPr sz="1300">
                <a:solidFill>
                  <a:srgbClr val="AFBED2"/>
                </a:solidFill>
              </a:defRPr>
            </a:pPr>
            <a:r>
              <a:t>Quantum Support Vector Machine workflow</a:t>
            </a:r>
          </a:p>
        </p:txBody>
      </p:sp>
      <p:sp>
        <p:nvSpPr>
          <p:cNvPr id="5" name="Rounded Rectangle 4"/>
          <p:cNvSpPr/>
          <p:nvPr/>
        </p:nvSpPr>
        <p:spPr>
          <a:xfrm>
            <a:off x="594360" y="2423160"/>
            <a:ext cx="132588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F8FC"/>
                </a:solidFill>
              </a:defRPr>
            </a:pPr>
            <a:r>
              <a:t>Clinical Data</a:t>
            </a:r>
          </a:p>
        </p:txBody>
      </p:sp>
      <p:sp>
        <p:nvSpPr>
          <p:cNvPr id="6" name="Chevron 5"/>
          <p:cNvSpPr/>
          <p:nvPr/>
        </p:nvSpPr>
        <p:spPr>
          <a:xfrm>
            <a:off x="1947672" y="2660904"/>
            <a:ext cx="201168" cy="320040"/>
          </a:xfrm>
          <a:prstGeom prst="chevron">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94560" y="2423160"/>
            <a:ext cx="132588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F8FC"/>
                </a:solidFill>
              </a:defRPr>
            </a:pPr>
            <a:r>
              <a:t>Preprocessing</a:t>
            </a:r>
          </a:p>
        </p:txBody>
      </p:sp>
      <p:sp>
        <p:nvSpPr>
          <p:cNvPr id="8" name="Chevron 7"/>
          <p:cNvSpPr/>
          <p:nvPr/>
        </p:nvSpPr>
        <p:spPr>
          <a:xfrm>
            <a:off x="3547872" y="2660904"/>
            <a:ext cx="201168" cy="320040"/>
          </a:xfrm>
          <a:prstGeom prst="chevron">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94760" y="2423160"/>
            <a:ext cx="132588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F8FC"/>
                </a:solidFill>
              </a:defRPr>
            </a:pPr>
            <a:r>
              <a:t>Feature Scaling</a:t>
            </a:r>
          </a:p>
        </p:txBody>
      </p:sp>
      <p:sp>
        <p:nvSpPr>
          <p:cNvPr id="10" name="Chevron 9"/>
          <p:cNvSpPr/>
          <p:nvPr/>
        </p:nvSpPr>
        <p:spPr>
          <a:xfrm>
            <a:off x="5148072" y="2660904"/>
            <a:ext cx="201168" cy="320040"/>
          </a:xfrm>
          <a:prstGeom prst="chevron">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394960" y="2423160"/>
            <a:ext cx="132588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F8FC"/>
                </a:solidFill>
              </a:defRPr>
            </a:pPr>
            <a:r>
              <a:t>Quantum Feature Map</a:t>
            </a:r>
          </a:p>
        </p:txBody>
      </p:sp>
      <p:sp>
        <p:nvSpPr>
          <p:cNvPr id="12" name="Chevron 11"/>
          <p:cNvSpPr/>
          <p:nvPr/>
        </p:nvSpPr>
        <p:spPr>
          <a:xfrm>
            <a:off x="6748272" y="2660904"/>
            <a:ext cx="201168" cy="320040"/>
          </a:xfrm>
          <a:prstGeom prst="chevron">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995160" y="2423160"/>
            <a:ext cx="132588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F8FC"/>
                </a:solidFill>
              </a:defRPr>
            </a:pPr>
            <a:r>
              <a:t>Quantum Kernel</a:t>
            </a:r>
          </a:p>
        </p:txBody>
      </p:sp>
      <p:sp>
        <p:nvSpPr>
          <p:cNvPr id="14" name="Chevron 13"/>
          <p:cNvSpPr/>
          <p:nvPr/>
        </p:nvSpPr>
        <p:spPr>
          <a:xfrm>
            <a:off x="8348472" y="2660904"/>
            <a:ext cx="201168" cy="320040"/>
          </a:xfrm>
          <a:prstGeom prst="chevron">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95360" y="2423160"/>
            <a:ext cx="132588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F8FC"/>
                </a:solidFill>
              </a:defRPr>
            </a:pPr>
            <a:r>
              <a:t>SVM Classifier</a:t>
            </a:r>
          </a:p>
        </p:txBody>
      </p:sp>
      <p:sp>
        <p:nvSpPr>
          <p:cNvPr id="16" name="Chevron 15"/>
          <p:cNvSpPr/>
          <p:nvPr/>
        </p:nvSpPr>
        <p:spPr>
          <a:xfrm>
            <a:off x="9948672" y="2660904"/>
            <a:ext cx="201168" cy="320040"/>
          </a:xfrm>
          <a:prstGeom prst="chevron">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195560" y="2423160"/>
            <a:ext cx="132588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F8FC"/>
                </a:solidFill>
              </a:defRPr>
            </a:pPr>
            <a:r>
              <a:t>Risk Prediction</a:t>
            </a:r>
          </a:p>
        </p:txBody>
      </p:sp>
      <p:sp>
        <p:nvSpPr>
          <p:cNvPr id="18" name="TextBox 17"/>
          <p:cNvSpPr txBox="1"/>
          <p:nvPr/>
        </p:nvSpPr>
        <p:spPr>
          <a:xfrm>
            <a:off x="914400" y="3977639"/>
            <a:ext cx="10241280" cy="1371600"/>
          </a:xfrm>
          <a:prstGeom prst="rect">
            <a:avLst/>
          </a:prstGeom>
          <a:noFill/>
        </p:spPr>
        <p:txBody>
          <a:bodyPr wrap="none">
            <a:spAutoFit/>
          </a:bodyPr>
          <a:lstStyle/>
          <a:p>
            <a:pPr>
              <a:defRPr sz="1700">
                <a:solidFill>
                  <a:srgbClr val="F5F8FC"/>
                </a:solidFill>
              </a:defRPr>
            </a:pPr>
            <a:r>
              <a:t>The quantum feature map transforms normalized clinical features into quantum states. The quantum kernel measures similarity between patient records, and the resulting kernel is used by an SVM classifier to predict risk.</a:t>
            </a:r>
          </a:p>
        </p:txBody>
      </p:sp>
      <p:sp>
        <p:nvSpPr>
          <p:cNvPr id="19" name="TextBox 18"/>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2800" b="1">
                <a:solidFill>
                  <a:srgbClr val="F5F8FC"/>
                </a:solidFill>
              </a:defRPr>
            </a:pPr>
            <a:r>
              <a:t>Proposed Algorithm – Pseudocode</a:t>
            </a:r>
          </a:p>
        </p:txBody>
      </p:sp>
      <p:sp>
        <p:nvSpPr>
          <p:cNvPr id="4" name="Rounded Rectangle 3"/>
          <p:cNvSpPr/>
          <p:nvPr/>
        </p:nvSpPr>
        <p:spPr>
          <a:xfrm>
            <a:off x="914400" y="1417320"/>
            <a:ext cx="10241280" cy="44805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1691640"/>
            <a:ext cx="9601200" cy="3931920"/>
          </a:xfrm>
          <a:prstGeom prst="rect">
            <a:avLst/>
          </a:prstGeom>
          <a:noFill/>
        </p:spPr>
        <p:txBody>
          <a:bodyPr wrap="none">
            <a:spAutoFit/>
          </a:bodyPr>
          <a:lstStyle/>
          <a:p>
            <a:pPr>
              <a:defRPr sz="1600">
                <a:solidFill>
                  <a:srgbClr val="F5F8FC"/>
                </a:solidFill>
                <a:latin typeface="Courier New"/>
              </a:defRPr>
            </a:pPr>
            <a:r>
              <a:t>START</a:t>
            </a:r>
            <a:br/>
            <a:r>
              <a:t>Load clinical dataset</a:t>
            </a:r>
            <a:br/>
            <a:r>
              <a:t>Clean missing and invalid values</a:t>
            </a:r>
            <a:br/>
            <a:r>
              <a:t>Select relevant clinical features</a:t>
            </a:r>
            <a:br/>
            <a:r>
              <a:t>Normalize feature values</a:t>
            </a:r>
            <a:br/>
            <a:r>
              <a:t>Split data into training and testing sets</a:t>
            </a:r>
            <a:br/>
            <a:r>
              <a:t>Create quantum feature map</a:t>
            </a:r>
            <a:br/>
            <a:r>
              <a:t>Calculate quantum kernel matrix</a:t>
            </a:r>
            <a:br/>
            <a:r>
              <a:t>Train SVM using the quantum kernel</a:t>
            </a:r>
            <a:br/>
            <a:r>
              <a:t>Predict risk class for test patients</a:t>
            </a:r>
            <a:br/>
            <a:r>
              <a:t>Calculate accuracy, precision, recall and F1-score</a:t>
            </a:r>
            <a:br/>
            <a:r>
              <a:t>Display results</a:t>
            </a:r>
            <a:br/>
            <a:r>
              <a:t>END</a:t>
            </a:r>
          </a:p>
        </p:txBody>
      </p:sp>
      <p:sp>
        <p:nvSpPr>
          <p:cNvPr id="6" name="TextBox 5"/>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2800" b="1">
                <a:solidFill>
                  <a:srgbClr val="F5F8FC"/>
                </a:solidFill>
              </a:defRPr>
            </a:pPr>
            <a:r>
              <a:t>Algorithm Complexity</a:t>
            </a:r>
          </a:p>
        </p:txBody>
      </p:sp>
      <p:sp>
        <p:nvSpPr>
          <p:cNvPr id="4" name="TextBox 3"/>
          <p:cNvSpPr txBox="1"/>
          <p:nvPr/>
        </p:nvSpPr>
        <p:spPr>
          <a:xfrm>
            <a:off x="777240" y="1508760"/>
            <a:ext cx="10698480" cy="4480560"/>
          </a:xfrm>
          <a:prstGeom prst="rect">
            <a:avLst/>
          </a:prstGeom>
          <a:noFill/>
        </p:spPr>
        <p:txBody>
          <a:bodyPr wrap="square">
            <a:spAutoFit/>
          </a:bodyPr>
          <a:lstStyle/>
          <a:p>
            <a:pPr>
              <a:spcAft>
                <a:spcPts val="1200"/>
              </a:spcAft>
              <a:defRPr sz="1800">
                <a:solidFill>
                  <a:srgbClr val="F5F8FC"/>
                </a:solidFill>
              </a:defRPr>
            </a:pPr>
            <a:r>
              <a:t>Let N = number of patient records, F = number of selected features, and C = cost of one quantum-kernel evaluation.</a:t>
            </a:r>
          </a:p>
          <a:p>
            <a:pPr>
              <a:spcAft>
                <a:spcPts val="1200"/>
              </a:spcAft>
              <a:defRPr sz="1800">
                <a:solidFill>
                  <a:srgbClr val="F5F8FC"/>
                </a:solidFill>
              </a:defRPr>
            </a:pPr>
            <a:r>
              <a:t>Classical preprocessing: O(NF).</a:t>
            </a:r>
          </a:p>
          <a:p>
            <a:pPr>
              <a:spcAft>
                <a:spcPts val="1200"/>
              </a:spcAft>
              <a:defRPr sz="1800">
                <a:solidFill>
                  <a:srgbClr val="F5F8FC"/>
                </a:solidFill>
              </a:defRPr>
            </a:pPr>
            <a:r>
              <a:t>Quantum kernel construction requires approximately O(N²) pairwise kernel evaluations.</a:t>
            </a:r>
          </a:p>
          <a:p>
            <a:pPr>
              <a:spcAft>
                <a:spcPts val="1200"/>
              </a:spcAft>
              <a:defRPr sz="1800">
                <a:solidFill>
                  <a:srgbClr val="F5F8FC"/>
                </a:solidFill>
              </a:defRPr>
            </a:pPr>
            <a:r>
              <a:t>Overall kernel-building cost: O(N²C); if C is proportional to F, approximately O(N²F).</a:t>
            </a:r>
          </a:p>
          <a:p>
            <a:pPr>
              <a:spcAft>
                <a:spcPts val="1200"/>
              </a:spcAft>
              <a:defRPr sz="1800">
                <a:solidFill>
                  <a:srgbClr val="F5F8FC"/>
                </a:solidFill>
              </a:defRPr>
            </a:pPr>
            <a:r>
              <a:t>Space complexity: O(N²) for storing the kernel matrix, plus O(F) qubits for feature encoding.</a:t>
            </a:r>
          </a:p>
        </p:txBody>
      </p:sp>
      <p:sp>
        <p:nvSpPr>
          <p:cNvPr id="5" name="TextBox 4"/>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2800" b="1">
                <a:solidFill>
                  <a:srgbClr val="F5F8FC"/>
                </a:solidFill>
              </a:defRPr>
            </a:pPr>
            <a:r>
              <a:t>Implementation</a:t>
            </a:r>
          </a:p>
        </p:txBody>
      </p:sp>
      <p:sp>
        <p:nvSpPr>
          <p:cNvPr id="4" name="TextBox 3"/>
          <p:cNvSpPr txBox="1"/>
          <p:nvPr/>
        </p:nvSpPr>
        <p:spPr>
          <a:xfrm>
            <a:off x="658368" y="1051560"/>
            <a:ext cx="10789920" cy="411480"/>
          </a:xfrm>
          <a:prstGeom prst="rect">
            <a:avLst/>
          </a:prstGeom>
          <a:noFill/>
        </p:spPr>
        <p:txBody>
          <a:bodyPr wrap="none">
            <a:spAutoFit/>
          </a:bodyPr>
          <a:lstStyle/>
          <a:p>
            <a:pPr>
              <a:defRPr sz="1300">
                <a:solidFill>
                  <a:srgbClr val="AFBED2"/>
                </a:solidFill>
              </a:defRPr>
            </a:pPr>
            <a:r>
              <a:t>Python + Qiskit</a:t>
            </a:r>
          </a:p>
        </p:txBody>
      </p:sp>
      <p:sp>
        <p:nvSpPr>
          <p:cNvPr id="5" name="TextBox 4"/>
          <p:cNvSpPr txBox="1"/>
          <p:nvPr/>
        </p:nvSpPr>
        <p:spPr>
          <a:xfrm>
            <a:off x="777240" y="1508760"/>
            <a:ext cx="10698480" cy="4480560"/>
          </a:xfrm>
          <a:prstGeom prst="rect">
            <a:avLst/>
          </a:prstGeom>
          <a:noFill/>
        </p:spPr>
        <p:txBody>
          <a:bodyPr wrap="square">
            <a:spAutoFit/>
          </a:bodyPr>
          <a:lstStyle/>
          <a:p>
            <a:pPr>
              <a:spcAft>
                <a:spcPts val="1200"/>
              </a:spcAft>
              <a:defRPr sz="1800">
                <a:solidFill>
                  <a:srgbClr val="F5F8FC"/>
                </a:solidFill>
              </a:defRPr>
            </a:pPr>
            <a:r>
              <a:t>Programming language: Python</a:t>
            </a:r>
          </a:p>
          <a:p>
            <a:pPr>
              <a:spcAft>
                <a:spcPts val="1200"/>
              </a:spcAft>
              <a:defRPr sz="1800">
                <a:solidFill>
                  <a:srgbClr val="F5F8FC"/>
                </a:solidFill>
              </a:defRPr>
            </a:pPr>
            <a:r>
              <a:t>Quantum framework: Qiskit and Qiskit Machine Learning</a:t>
            </a:r>
          </a:p>
          <a:p>
            <a:pPr>
              <a:spcAft>
                <a:spcPts val="1200"/>
              </a:spcAft>
              <a:defRPr sz="1800">
                <a:solidFill>
                  <a:srgbClr val="F5F8FC"/>
                </a:solidFill>
              </a:defRPr>
            </a:pPr>
            <a:r>
              <a:t>Simulation: Qiskit Aer</a:t>
            </a:r>
          </a:p>
          <a:p>
            <a:pPr>
              <a:spcAft>
                <a:spcPts val="1200"/>
              </a:spcAft>
              <a:defRPr sz="1800">
                <a:solidFill>
                  <a:srgbClr val="F5F8FC"/>
                </a:solidFill>
              </a:defRPr>
            </a:pPr>
            <a:r>
              <a:t>Data processing: Pandas and NumPy</a:t>
            </a:r>
          </a:p>
          <a:p>
            <a:pPr>
              <a:spcAft>
                <a:spcPts val="1200"/>
              </a:spcAft>
              <a:defRPr sz="1800">
                <a:solidFill>
                  <a:srgbClr val="F5F8FC"/>
                </a:solidFill>
              </a:defRPr>
            </a:pPr>
            <a:r>
              <a:t>Classical utilities and evaluation: Scikit-learn</a:t>
            </a:r>
          </a:p>
          <a:p>
            <a:pPr>
              <a:spcAft>
                <a:spcPts val="1200"/>
              </a:spcAft>
              <a:defRPr sz="1800">
                <a:solidFill>
                  <a:srgbClr val="F5F8FC"/>
                </a:solidFill>
              </a:defRPr>
            </a:pPr>
            <a:r>
              <a:t>Visualization: Matplotlib</a:t>
            </a:r>
          </a:p>
        </p:txBody>
      </p:sp>
      <p:sp>
        <p:nvSpPr>
          <p:cNvPr id="6" name="Rounded Rectangle 5"/>
          <p:cNvSpPr/>
          <p:nvPr/>
        </p:nvSpPr>
        <p:spPr>
          <a:xfrm>
            <a:off x="6675120" y="1417320"/>
            <a:ext cx="4480560" cy="416052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1691640"/>
            <a:ext cx="3931920" cy="3657600"/>
          </a:xfrm>
          <a:prstGeom prst="rect">
            <a:avLst/>
          </a:prstGeom>
          <a:noFill/>
        </p:spPr>
        <p:txBody>
          <a:bodyPr wrap="none">
            <a:spAutoFit/>
          </a:bodyPr>
          <a:lstStyle/>
          <a:p>
            <a:pPr>
              <a:defRPr sz="1200">
                <a:solidFill>
                  <a:srgbClr val="F5F8FC"/>
                </a:solidFill>
                <a:latin typeface="Courier New"/>
              </a:defRPr>
            </a:pPr>
            <a:r>
              <a:t>data = pd.read_csv("clinical_data.csv")</a:t>
            </a:r>
            <a:br/>
            <a:r>
              <a:t>X = data.drop("target", axis=1)</a:t>
            </a:r>
            <a:br/>
            <a:r>
              <a:t>y = data["target"]</a:t>
            </a:r>
            <a:br/>
            <a:br/>
            <a:r>
              <a:t>X = StandardScaler().fit_transform(X)</a:t>
            </a:r>
            <a:br/>
            <a:br/>
            <a:r>
              <a:t>X_train, X_test, y_train, y_test = \</a:t>
            </a:r>
            <a:br/>
            <a:r>
              <a:t>    train_test_split(X, y, test_size=0.2)</a:t>
            </a:r>
          </a:p>
        </p:txBody>
      </p:sp>
      <p:sp>
        <p:nvSpPr>
          <p:cNvPr id="8" name="TextBox 7"/>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2800" b="1">
                <a:solidFill>
                  <a:srgbClr val="F5F8FC"/>
                </a:solidFill>
              </a:defRPr>
            </a:pPr>
            <a:r>
              <a:t>Results and Analysis</a:t>
            </a:r>
          </a:p>
        </p:txBody>
      </p:sp>
      <p:sp>
        <p:nvSpPr>
          <p:cNvPr id="4" name="TextBox 3"/>
          <p:cNvSpPr txBox="1"/>
          <p:nvPr/>
        </p:nvSpPr>
        <p:spPr>
          <a:xfrm>
            <a:off x="658368" y="1051560"/>
            <a:ext cx="10789920" cy="411480"/>
          </a:xfrm>
          <a:prstGeom prst="rect">
            <a:avLst/>
          </a:prstGeom>
          <a:noFill/>
        </p:spPr>
        <p:txBody>
          <a:bodyPr wrap="none">
            <a:spAutoFit/>
          </a:bodyPr>
          <a:lstStyle/>
          <a:p>
            <a:pPr>
              <a:defRPr sz="1300">
                <a:solidFill>
                  <a:srgbClr val="AFBED2"/>
                </a:solidFill>
              </a:defRPr>
            </a:pPr>
            <a:r>
              <a:t>Replace placeholders with actual experimental results</a:t>
            </a:r>
          </a:p>
        </p:txBody>
      </p:sp>
      <p:sp>
        <p:nvSpPr>
          <p:cNvPr id="5" name="TextBox 4"/>
          <p:cNvSpPr txBox="1"/>
          <p:nvPr/>
        </p:nvSpPr>
        <p:spPr>
          <a:xfrm>
            <a:off x="777240" y="1508760"/>
            <a:ext cx="10698480" cy="4480560"/>
          </a:xfrm>
          <a:prstGeom prst="rect">
            <a:avLst/>
          </a:prstGeom>
          <a:noFill/>
        </p:spPr>
        <p:txBody>
          <a:bodyPr wrap="square">
            <a:spAutoFit/>
          </a:bodyPr>
          <a:lstStyle/>
          <a:p>
            <a:pPr>
              <a:spcAft>
                <a:spcPts val="1200"/>
              </a:spcAft>
              <a:defRPr sz="1700">
                <a:solidFill>
                  <a:srgbClr val="F5F8FC"/>
                </a:solidFill>
              </a:defRPr>
            </a:pPr>
            <a:r>
              <a:t>Example input features: Age, Blood Pressure, Cholesterol and Maximum Heart Rate.</a:t>
            </a:r>
          </a:p>
          <a:p>
            <a:pPr>
              <a:spcAft>
                <a:spcPts val="1200"/>
              </a:spcAft>
              <a:defRPr sz="1700">
                <a:solidFill>
                  <a:srgbClr val="F5F8FC"/>
                </a:solidFill>
              </a:defRPr>
            </a:pPr>
            <a:r>
              <a:t>Output: Predicted health-risk class — Lower Risk (0) or Higher Risk (1).</a:t>
            </a:r>
          </a:p>
          <a:p>
            <a:pPr>
              <a:spcAft>
                <a:spcPts val="1200"/>
              </a:spcAft>
              <a:defRPr sz="1700">
                <a:solidFill>
                  <a:srgbClr val="F5F8FC"/>
                </a:solidFill>
              </a:defRPr>
            </a:pPr>
            <a:r>
              <a:t>Evaluation metrics: Accuracy, Precision, Recall and F1-score.</a:t>
            </a:r>
          </a:p>
          <a:p>
            <a:pPr>
              <a:spcAft>
                <a:spcPts val="1200"/>
              </a:spcAft>
              <a:defRPr sz="1700">
                <a:solidFill>
                  <a:srgbClr val="F5F8FC"/>
                </a:solidFill>
              </a:defRPr>
            </a:pPr>
            <a:r>
              <a:t>Recommended visualizations: Confusion Matrix and QSVM vs Classical SVM accuracy comparison.</a:t>
            </a:r>
          </a:p>
          <a:p>
            <a:pPr>
              <a:spcAft>
                <a:spcPts val="1200"/>
              </a:spcAft>
              <a:defRPr sz="1700">
                <a:solidFill>
                  <a:srgbClr val="F5F8FC"/>
                </a:solidFill>
              </a:defRPr>
            </a:pPr>
            <a:r>
              <a:t>Do not use invented performance values; replace placeholders with the actual experiment results.</a:t>
            </a:r>
          </a:p>
        </p:txBody>
      </p:sp>
      <p:sp>
        <p:nvSpPr>
          <p:cNvPr id="6" name="Rounded Rectangle 5"/>
          <p:cNvSpPr/>
          <p:nvPr/>
        </p:nvSpPr>
        <p:spPr>
          <a:xfrm>
            <a:off x="914400" y="4892040"/>
            <a:ext cx="214884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F8FC"/>
                </a:solidFill>
              </a:defRPr>
            </a:pPr>
            <a:r>
              <a:t>Accuracy</a:t>
            </a:r>
            <a:br/>
            <a:r>
              <a:t>___ %</a:t>
            </a:r>
          </a:p>
        </p:txBody>
      </p:sp>
      <p:sp>
        <p:nvSpPr>
          <p:cNvPr id="7" name="Rounded Rectangle 6"/>
          <p:cNvSpPr/>
          <p:nvPr/>
        </p:nvSpPr>
        <p:spPr>
          <a:xfrm>
            <a:off x="3657600" y="4892040"/>
            <a:ext cx="214884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F8FC"/>
                </a:solidFill>
              </a:defRPr>
            </a:pPr>
            <a:r>
              <a:t>Precision</a:t>
            </a:r>
            <a:br/>
            <a:r>
              <a:t>___ %</a:t>
            </a:r>
          </a:p>
        </p:txBody>
      </p:sp>
      <p:sp>
        <p:nvSpPr>
          <p:cNvPr id="8" name="Rounded Rectangle 7"/>
          <p:cNvSpPr/>
          <p:nvPr/>
        </p:nvSpPr>
        <p:spPr>
          <a:xfrm>
            <a:off x="6400800" y="4892040"/>
            <a:ext cx="214884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F8FC"/>
                </a:solidFill>
              </a:defRPr>
            </a:pPr>
            <a:r>
              <a:t>Recall</a:t>
            </a:r>
            <a:br/>
            <a:r>
              <a:t>___ %</a:t>
            </a:r>
          </a:p>
        </p:txBody>
      </p:sp>
      <p:sp>
        <p:nvSpPr>
          <p:cNvPr id="9" name="Rounded Rectangle 8"/>
          <p:cNvSpPr/>
          <p:nvPr/>
        </p:nvSpPr>
        <p:spPr>
          <a:xfrm>
            <a:off x="9144000" y="4892040"/>
            <a:ext cx="2148840" cy="822960"/>
          </a:xfrm>
          <a:prstGeom prst="roundRect">
            <a:avLst/>
          </a:prstGeom>
          <a:solidFill>
            <a:srgbClr val="142036"/>
          </a:solidFill>
          <a:ln>
            <a:solidFill>
              <a:srgbClr val="50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F8FC"/>
                </a:solidFill>
              </a:defRPr>
            </a:pPr>
            <a:r>
              <a:t>F1-Score</a:t>
            </a:r>
            <a:br/>
            <a:r>
              <a:t>___ %</a:t>
            </a:r>
          </a:p>
        </p:txBody>
      </p:sp>
      <p:sp>
        <p:nvSpPr>
          <p:cNvPr id="10" name="TextBox 9"/>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2800" b="1">
                <a:solidFill>
                  <a:srgbClr val="F5F8FC"/>
                </a:solidFill>
              </a:defRPr>
            </a:pPr>
            <a:r>
              <a:t>Conclusion</a:t>
            </a:r>
          </a:p>
        </p:txBody>
      </p:sp>
      <p:sp>
        <p:nvSpPr>
          <p:cNvPr id="4" name="TextBox 3"/>
          <p:cNvSpPr txBox="1"/>
          <p:nvPr/>
        </p:nvSpPr>
        <p:spPr>
          <a:xfrm>
            <a:off x="777240" y="1508760"/>
            <a:ext cx="10698480" cy="4480560"/>
          </a:xfrm>
          <a:prstGeom prst="rect">
            <a:avLst/>
          </a:prstGeom>
          <a:noFill/>
        </p:spPr>
        <p:txBody>
          <a:bodyPr wrap="square">
            <a:spAutoFit/>
          </a:bodyPr>
          <a:lstStyle/>
          <a:p>
            <a:pPr>
              <a:spcAft>
                <a:spcPts val="1200"/>
              </a:spcAft>
              <a:defRPr sz="1800">
                <a:solidFill>
                  <a:srgbClr val="F5F8FC"/>
                </a:solidFill>
              </a:defRPr>
            </a:pPr>
            <a:r>
              <a:t>The proposed QSVM system provides a Quantum Machine Learning approach for clinical health-risk classification.</a:t>
            </a:r>
          </a:p>
          <a:p>
            <a:pPr>
              <a:spcAft>
                <a:spcPts val="1200"/>
              </a:spcAft>
              <a:defRPr sz="1800">
                <a:solidFill>
                  <a:srgbClr val="F5F8FC"/>
                </a:solidFill>
              </a:defRPr>
            </a:pPr>
            <a:r>
              <a:t>Clinical features are preprocessed, normalized and encoded into a quantum feature space.</a:t>
            </a:r>
          </a:p>
          <a:p>
            <a:pPr>
              <a:spcAft>
                <a:spcPts val="1200"/>
              </a:spcAft>
              <a:defRPr sz="1800">
                <a:solidFill>
                  <a:srgbClr val="F5F8FC"/>
                </a:solidFill>
              </a:defRPr>
            </a:pPr>
            <a:r>
              <a:t>A quantum kernel captures similarity between patient records and supports SVM-based classification.</a:t>
            </a:r>
          </a:p>
          <a:p>
            <a:pPr>
              <a:spcAft>
                <a:spcPts val="1200"/>
              </a:spcAft>
              <a:defRPr sz="1800">
                <a:solidFill>
                  <a:srgbClr val="F5F8FC"/>
                </a:solidFill>
              </a:defRPr>
            </a:pPr>
            <a:r>
              <a:t>The project demonstrates a practical application of quantum computing concepts in healthcare.</a:t>
            </a:r>
          </a:p>
          <a:p>
            <a:pPr>
              <a:spcAft>
                <a:spcPts val="1200"/>
              </a:spcAft>
              <a:defRPr sz="1800">
                <a:solidFill>
                  <a:srgbClr val="F5F8FC"/>
                </a:solidFill>
              </a:defRPr>
            </a:pPr>
            <a:r>
              <a:t>Future work can explore larger datasets, additional features, noise-aware quantum hardware and other quantum models.</a:t>
            </a:r>
          </a:p>
        </p:txBody>
      </p:sp>
      <p:sp>
        <p:nvSpPr>
          <p:cNvPr id="5" name="TextBox 4"/>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223"/>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50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194560"/>
          </a:xfrm>
          <a:prstGeom prst="rect">
            <a:avLst/>
          </a:prstGeom>
          <a:noFill/>
        </p:spPr>
        <p:txBody>
          <a:bodyPr wrap="none">
            <a:spAutoFit/>
          </a:bodyPr>
          <a:lstStyle/>
          <a:p>
            <a:pPr algn="ctr">
              <a:defRPr sz="4200" b="1">
                <a:solidFill>
                  <a:srgbClr val="F5F8FC"/>
                </a:solidFill>
              </a:defRPr>
            </a:pPr>
            <a:r>
              <a:t>THANK YOU</a:t>
            </a:r>
          </a:p>
          <a:p>
            <a:pPr algn="ctr">
              <a:defRPr sz="2200">
                <a:solidFill>
                  <a:srgbClr val="50D2E6"/>
                </a:solidFill>
              </a:defRPr>
            </a:pPr>
            <a:r>
              <a:t>Questions?</a:t>
            </a:r>
          </a:p>
          <a:p>
            <a:pPr algn="ctr">
              <a:defRPr sz="1600">
                <a:solidFill>
                  <a:srgbClr val="AFBED2"/>
                </a:solidFill>
              </a:defRPr>
            </a:pPr>
            <a:r>
              <a:t>Quantum Machine Learning-Based Patient Health Risk Prediction</a:t>
            </a:r>
          </a:p>
        </p:txBody>
      </p:sp>
      <p:sp>
        <p:nvSpPr>
          <p:cNvPr id="4" name="TextBox 3"/>
          <p:cNvSpPr txBox="1"/>
          <p:nvPr/>
        </p:nvSpPr>
        <p:spPr>
          <a:xfrm>
            <a:off x="10881360" y="6446520"/>
            <a:ext cx="640080" cy="228600"/>
          </a:xfrm>
          <a:prstGeom prst="rect">
            <a:avLst/>
          </a:prstGeom>
          <a:noFill/>
        </p:spPr>
        <p:txBody>
          <a:bodyPr wrap="none">
            <a:spAutoFit/>
          </a:bodyPr>
          <a:lstStyle/>
          <a:p>
            <a:pPr algn="r">
              <a:defRPr sz="1000">
                <a:solidFill>
                  <a:srgbClr val="AFBED2"/>
                </a:solidFil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